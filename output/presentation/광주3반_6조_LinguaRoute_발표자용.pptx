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2f62e0321547c4" /><Relationship Type="http://schemas.openxmlformats.org/officeDocument/2006/relationships/extended-properties" Target="/docProps/app.xml" Id="Re4525dbbd85a49de" /><Relationship Type="http://schemas.openxmlformats.org/officeDocument/2006/relationships/officeDocument" Target="/ppt/presentation.xml" Id="R4ccbef0e8d8c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917e986d5f4f11"/>
  </p:sldMasterIdLst>
  <p:notesMasterIdLst>
    <p:notesMasterId xmlns:r="http://schemas.openxmlformats.org/officeDocument/2006/relationships" r:id="Rcc31d5bc4d2a42ce"/>
  </p:notesMasterIdLst>
  <p:sldIdLst>
    <p:sldId xmlns:r="http://schemas.openxmlformats.org/officeDocument/2006/relationships" id="256" r:id="R026c64ddfa4346ed"/>
    <p:sldId xmlns:r="http://schemas.openxmlformats.org/officeDocument/2006/relationships" id="257" r:id="Rdbb3087959604d2b"/>
    <p:sldId xmlns:r="http://schemas.openxmlformats.org/officeDocument/2006/relationships" id="258" r:id="R98def1abaeba48a1"/>
    <p:sldId xmlns:r="http://schemas.openxmlformats.org/officeDocument/2006/relationships" id="259" r:id="R92c2c5e8e74d497b"/>
    <p:sldId xmlns:r="http://schemas.openxmlformats.org/officeDocument/2006/relationships" id="260" r:id="R3b07213a605b4953"/>
    <p:sldId xmlns:r="http://schemas.openxmlformats.org/officeDocument/2006/relationships" id="261" r:id="Re65c89b40a974918"/>
    <p:sldId xmlns:r="http://schemas.openxmlformats.org/officeDocument/2006/relationships" id="262" r:id="R4298c19f5aa346c2"/>
    <p:sldId xmlns:r="http://schemas.openxmlformats.org/officeDocument/2006/relationships" id="263" r:id="Rea34abdb2d6d47da"/>
    <p:sldId xmlns:r="http://schemas.openxmlformats.org/officeDocument/2006/relationships" id="264" r:id="R4c74c8aa226a4da3"/>
    <p:sldId xmlns:r="http://schemas.openxmlformats.org/officeDocument/2006/relationships" id="265" r:id="R0ff16cf8aa7648a1"/>
    <p:sldId xmlns:r="http://schemas.openxmlformats.org/officeDocument/2006/relationships" id="266" r:id="R8e088dc7cc9c4487"/>
    <p:sldId xmlns:r="http://schemas.openxmlformats.org/officeDocument/2006/relationships" id="267" r:id="R7968c2336cd64665"/>
    <p:sldId xmlns:r="http://schemas.openxmlformats.org/officeDocument/2006/relationships" id="268" r:id="Rcee8e23466754499"/>
    <p:sldId xmlns:r="http://schemas.openxmlformats.org/officeDocument/2006/relationships" id="269" r:id="R451a71f1c7f5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70c60f0a34c7d" /><Relationship Type="http://schemas.openxmlformats.org/officeDocument/2006/relationships/slideMaster" Target="/ppt/slideMasters/slideMaster1.xml" Id="Rf1917e986d5f4f11" /><Relationship Type="http://schemas.openxmlformats.org/officeDocument/2006/relationships/notesMaster" Target="/ppt/notesMasters/notesMaster1.xml" Id="Rcc31d5bc4d2a42ce" /><Relationship Type="http://schemas.openxmlformats.org/officeDocument/2006/relationships/presProps" Target="/ppt/presProps.xml" Id="R0f448e748823401c" /><Relationship Type="http://schemas.openxmlformats.org/officeDocument/2006/relationships/tableStyles" Target="/ppt/tableStyles.xml" Id="R80b2f2f282a244e6" /><Relationship Type="http://schemas.openxmlformats.org/officeDocument/2006/relationships/slide" Target="/ppt/slides/slide1.xml" Id="R026c64ddfa4346ed" /><Relationship Type="http://schemas.openxmlformats.org/officeDocument/2006/relationships/slide" Target="/ppt/slides/slide2.xml" Id="Rdbb3087959604d2b" /><Relationship Type="http://schemas.openxmlformats.org/officeDocument/2006/relationships/slide" Target="/ppt/slides/slide3.xml" Id="R98def1abaeba48a1" /><Relationship Type="http://schemas.openxmlformats.org/officeDocument/2006/relationships/slide" Target="/ppt/slides/slide4.xml" Id="R92c2c5e8e74d497b" /><Relationship Type="http://schemas.openxmlformats.org/officeDocument/2006/relationships/slide" Target="/ppt/slides/slide5.xml" Id="R3b07213a605b4953" /><Relationship Type="http://schemas.openxmlformats.org/officeDocument/2006/relationships/slide" Target="/ppt/slides/slide6.xml" Id="Re65c89b40a974918" /><Relationship Type="http://schemas.openxmlformats.org/officeDocument/2006/relationships/slide" Target="/ppt/slides/slide7.xml" Id="R4298c19f5aa346c2" /><Relationship Type="http://schemas.openxmlformats.org/officeDocument/2006/relationships/slide" Target="/ppt/slides/slide8.xml" Id="Rea34abdb2d6d47da" /><Relationship Type="http://schemas.openxmlformats.org/officeDocument/2006/relationships/slide" Target="/ppt/slides/slide9.xml" Id="R4c74c8aa226a4da3" /><Relationship Type="http://schemas.openxmlformats.org/officeDocument/2006/relationships/slide" Target="/ppt/slides/slide10.xml" Id="R0ff16cf8aa7648a1" /><Relationship Type="http://schemas.openxmlformats.org/officeDocument/2006/relationships/slide" Target="/ppt/slides/slide11.xml" Id="R8e088dc7cc9c4487" /><Relationship Type="http://schemas.openxmlformats.org/officeDocument/2006/relationships/slide" Target="/ppt/slides/slide12.xml" Id="R7968c2336cd64665" /><Relationship Type="http://schemas.openxmlformats.org/officeDocument/2006/relationships/slide" Target="/ppt/slides/slide13.xml" Id="Rcee8e23466754499" /><Relationship Type="http://schemas.openxmlformats.org/officeDocument/2006/relationships/slide" Target="/ppt/slides/slide14.xml" Id="R451a71f1c7f5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345004d68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ac48d7bb54818" /><Relationship Type="http://schemas.openxmlformats.org/officeDocument/2006/relationships/notesMaster" Target="/ppt/notesMasters/notesMaster1.xml" Id="R360705150bcf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0e366feab40a0" /><Relationship Type="http://schemas.openxmlformats.org/officeDocument/2006/relationships/notesMaster" Target="/ppt/notesMasters/notesMaster1.xml" Id="R6364593ed007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10d33a0ab64926" /><Relationship Type="http://schemas.openxmlformats.org/officeDocument/2006/relationships/notesMaster" Target="/ppt/notesMasters/notesMaster1.xml" Id="R9aee2f7dbded43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5501224af45c3" /><Relationship Type="http://schemas.openxmlformats.org/officeDocument/2006/relationships/notesMaster" Target="/ppt/notesMasters/notesMaster1.xml" Id="Rbb69cba73816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43c0b937c4258" /><Relationship Type="http://schemas.openxmlformats.org/officeDocument/2006/relationships/notesMaster" Target="/ppt/notesMasters/notesMaster1.xml" Id="R67803aa6528e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5dd87f6e0b4680" /><Relationship Type="http://schemas.openxmlformats.org/officeDocument/2006/relationships/notesMaster" Target="/ppt/notesMasters/notesMaster1.xml" Id="R568cd23bd376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356bd353b046f0" /><Relationship Type="http://schemas.openxmlformats.org/officeDocument/2006/relationships/notesMaster" Target="/ppt/notesMasters/notesMaster1.xml" Id="Red1aa3cbf89a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cd9413e93946ab" /><Relationship Type="http://schemas.openxmlformats.org/officeDocument/2006/relationships/notesMaster" Target="/ppt/notesMasters/notesMaster1.xml" Id="R66a6abad22c148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1a38a3890a4d15" /><Relationship Type="http://schemas.openxmlformats.org/officeDocument/2006/relationships/notesMaster" Target="/ppt/notesMasters/notesMaster1.xml" Id="R8b73c97ed69e44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ffe690e7d46f3" /><Relationship Type="http://schemas.openxmlformats.org/officeDocument/2006/relationships/notesMaster" Target="/ppt/notesMasters/notesMaster1.xml" Id="R78c228f2ad754c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caa0cd11c34a2b" /><Relationship Type="http://schemas.openxmlformats.org/officeDocument/2006/relationships/notesMaster" Target="/ppt/notesMasters/notesMaster1.xml" Id="R2ca1ca960af440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2b76ade0174c15" /><Relationship Type="http://schemas.openxmlformats.org/officeDocument/2006/relationships/notesMaster" Target="/ppt/notesMasters/notesMaster1.xml" Id="Rc158e1b155464a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64a4942e9b46e9" /><Relationship Type="http://schemas.openxmlformats.org/officeDocument/2006/relationships/notesMaster" Target="/ppt/notesMasters/notesMaster1.xml" Id="R6dae1586034841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2ac5dbad194305" /><Relationship Type="http://schemas.openxmlformats.org/officeDocument/2006/relationships/notesMaster" Target="/ppt/notesMasters/notesMaster1.xml" Id="R5cb1e7ad4c02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핵심은 기업 구독부터 직원 학습, 플랫폼 운영까지 하나의 흐름으로 연결했다는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docs/product-spec.md</a:t>
            </a:r>
          </a:p>
          <a:p xmlns:a="http://schemas.openxmlformats.org/drawingml/2006/main">
            <a:r>
              <a:t>실제 Chrome 캡처: http://localhost:3000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문제를 독립 기능으로 보지 않고 하나의 B2B 학습 운영 흐름이 끊기는 문제로 정의했습니다.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docs/product-spec.md</a:t>
            </a:r>
          </a:p>
          <a:p xmlns:a="http://schemas.openxmlformats.org/drawingml/2006/main">
            <a:r>
              <a:t>docs/team6-presentation-plan.md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구독·좌석·학습·운영 흐름이 Sprint 우선순위와 MSA 경계, API 명세의 기준입니다.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docs/product-spec.md</a:t>
            </a:r>
          </a:p>
          <a:p xmlns:a="http://schemas.openxmlformats.org/drawingml/2006/main">
            <a:r>
              <a:t>docs/mvp-checklist.md</a:t>
            </a:r>
          </a:p>
          <a:p xmlns:a="http://schemas.openxmlformats.org/drawingml/2006/main">
            <a:r>
              <a:t>docs/mvp-verification.md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직원 화면은 Gateway API만 호출하고, 서버가 ACTIVE 강의와 구독 권한, 중복 수강신청을 검증합니다.</a:t>
            </a:r>
          </a:p>
          <a:p xmlns:a="http://schemas.openxmlformats.org/drawingml/2006/main">
            <a:r>
              <a:t>이 슬라이드는 현재 구현·검증된 요청 경로만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docs/mvp-checklist.md</a:t>
            </a:r>
          </a:p>
          <a:p xmlns:a="http://schemas.openxmlformats.org/drawingml/2006/main">
            <a:r>
              <a:t>docs/mvp-verification.md</a:t>
            </a:r>
          </a:p>
          <a:p xmlns:a="http://schemas.openxmlformats.org/drawingml/2006/main">
            <a:r>
              <a:t>docs/api-spec.md</a:t>
            </a:r>
          </a:p>
          <a:p xmlns:a="http://schemas.openxmlformats.org/drawingml/2006/main">
            <a:r>
              <a:t>course-service</a:t>
            </a:r>
          </a:p>
          <a:p xmlns:a="http://schemas.openxmlformats.org/drawingml/2006/main">
            <a:r>
              <a:t>enrollment-service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Sprint 1은 로그인부터 강의 조회·수강신청·내 수강 목록까지 한 흐름을 완결했습니다.</a:t>
            </a:r>
          </a:p>
          <a:p xmlns:a="http://schemas.openxmlformats.org/drawingml/2006/main">
            <a:r>
              <a:t>Sprint 2에서는 구독 결제와 Kafka 이벤트, 좌석 권한 갱신, 기업·플랫폼 운영 화면을 구현했습니다.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/Users/baggeon-u/Desktop/skala/skala-references/Spring-MSA/1.Agile_MSA_진행_가이드.pdf (1~3쪽)</a:t>
            </a:r>
          </a:p>
          <a:p xmlns:a="http://schemas.openxmlformats.org/drawingml/2006/main">
            <a:r>
              <a:t>docs/mvp-checklist.md</a:t>
            </a:r>
          </a:p>
          <a:p xmlns:a="http://schemas.openxmlformats.org/drawingml/2006/main">
            <a:r>
              <a:t>docs/mvp-verification.md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파란 흐름은 Vue에서 API Gateway를 거쳐 각 도메인 서비스로 전달되는 동기 REST 호출입니다.</a:t>
            </a:r>
          </a:p>
          <a:p xmlns:a="http://schemas.openxmlformats.org/drawingml/2006/main">
            <a:r>
              <a:t>Eureka는 Gateway와 서비스의 등록·탐색을 담당합니다.</a:t>
            </a:r>
          </a:p>
          <a:p xmlns:a="http://schemas.openxmlformats.org/drawingml/2006/main">
            <a:r>
              <a:t>주황 흐름은 payment-service가 발행하고 user-service가 소비하는 Kafka 구독 이벤트입니다.</a:t>
            </a:r>
          </a:p>
          <a:p xmlns:a="http://schemas.openxmlformats.org/drawingml/2006/main">
            <a:r>
              <a:t>각 서비스는 MariaDB lecture_db 안에서 자신의 소유 테이블만 접근합니다.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docker-compose.yml</a:t>
            </a:r>
          </a:p>
          <a:p xmlns:a="http://schemas.openxmlformats.org/drawingml/2006/main">
            <a:r>
              <a:t>docs/api-spec.md</a:t>
            </a:r>
          </a:p>
          <a:p xmlns:a="http://schemas.openxmlformats.org/drawingml/2006/main">
            <a:r>
              <a:t>docs/erd.md</a:t>
            </a:r>
          </a:p>
          <a:p xmlns:a="http://schemas.openxmlformats.org/drawingml/2006/main">
            <a:r>
              <a:t>payment-service/src/main/java/com/lecture/payment/kafka/PaymentKafkaProducer.java</a:t>
            </a:r>
          </a:p>
          <a:p xmlns:a="http://schemas.openxmlformats.org/drawingml/2006/main">
            <a:r>
              <a:t>user-service/src/main/java/com/lecture/user/kafka/SubscriptionEventConsumer.java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API는 모두 Gateway의 /api 경로로 호출하며, Bearer Token과 최신 비즈니스 역할·소속을 함께 검증합니다.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docs/api-spec.md</a:t>
            </a:r>
          </a:p>
          <a:p xmlns:a="http://schemas.openxmlformats.org/drawingml/2006/main">
            <a:r>
              <a:t>vue-frontend/src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직원 화면의 일본어 필터 사례로 Request와 Response, 화면 변화가 같은 흐름임을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docs/api-spec.md</a:t>
            </a:r>
          </a:p>
          <a:p xmlns:a="http://schemas.openxmlformats.org/drawingml/2006/main">
            <a:r>
              <a:t>course-service</a:t>
            </a:r>
          </a:p>
          <a:p xmlns:a="http://schemas.openxmlformats.org/drawingml/2006/main">
            <a:r>
              <a:t>실제 Chrome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기업 관리자의 구독·좌석·직원 진도 기능, 오른쪽은 직원 학습과 플랫폼 운영 기능입니다.</a:t>
            </a:r>
          </a:p>
          <a:p xmlns:a="http://schemas.openxmlformats.org/drawingml/2006/main">
            <a:r>
              <a:t>다음 슬라이드부터 실제 Chrome 캡처와 API 응답을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docs/mvp-checklist.md</a:t>
            </a:r>
          </a:p>
          <a:p xmlns:a="http://schemas.openxmlformats.org/drawingml/2006/main">
            <a:r>
              <a:t>docs/mvp-verification.md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찾기에서 언어를 일본어로 선택하면 Gateway API 결과로 실제 ACTIVE 강의 1개가 표시됩니다.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실제 Chrome 캡처</a:t>
            </a:r>
          </a:p>
          <a:p xmlns:a="http://schemas.openxmlformats.org/drawingml/2006/main">
            <a:r>
              <a:t>GET /api/courses?language=JAPANESE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학습 화면에서 완료 1건과 학습 중 1건, 각각 100%와 33.33%를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실제 Chrome 캡처</a:t>
            </a:r>
          </a:p>
          <a:p xmlns:a="http://schemas.openxmlformats.org/drawingml/2006/main">
            <a:r>
              <a:t>GET /api/enrollments/me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화면을 순서대로 보여주며 결제 결과가 좌석으로, 직원 학습 결과가 기업 진도 관리로 이어지는 점을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실제 Chrome 캡처</a:t>
            </a:r>
          </a:p>
          <a:p xmlns:a="http://schemas.openxmlformats.org/drawingml/2006/main">
            <a:r>
              <a:t>GET /api/subscriptions/me</a:t>
            </a:r>
          </a:p>
          <a:p xmlns:a="http://schemas.openxmlformats.org/drawingml/2006/main">
            <a:r>
              <a:t>GET /api/payments</a:t>
            </a:r>
          </a:p>
          <a:p xmlns:a="http://schemas.openxmlformats.org/drawingml/2006/main">
            <a:r>
              <a:t>GET /api/companies/me/enrollments/progress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대시보드의 기업·사용자·결제·수강 집계에서 강의 관리로 이동해 INACTIVE 상태 강의를 조회합니다. 활성화 버튼은 시연 중 누르지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실제 Chrome 캡처</a:t>
            </a:r>
          </a:p>
          <a:p xmlns:a="http://schemas.openxmlformats.org/drawingml/2006/main">
            <a:r>
              <a:t>GET /api/admin/companies</a:t>
            </a:r>
          </a:p>
          <a:p xmlns:a="http://schemas.openxmlformats.org/drawingml/2006/main">
            <a:r>
              <a:t>GET /api/admin/users</a:t>
            </a:r>
          </a:p>
          <a:p xmlns:a="http://schemas.openxmlformats.org/drawingml/2006/main">
            <a:r>
              <a:t>GET /api/admin/payments</a:t>
            </a:r>
          </a:p>
          <a:p xmlns:a="http://schemas.openxmlformats.org/drawingml/2006/main">
            <a:r>
              <a:t>GET /api/admin/courses?status=INACTIVE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 Chrome 시연으로 전환합니다. 기업 관리자 → 직원 → 플랫폼 관리자 순서이며 데이터 변경 버튼은 누르지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docs/demo-scenario.md</a:t>
            </a:r>
          </a:p>
          <a:p xmlns:a="http://schemas.openxmlformats.org/drawingml/2006/main">
            <a:r>
              <a:t>$linguaroute-demo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800cfb24f43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c92cdaacd4206" /><Relationship Type="http://schemas.openxmlformats.org/officeDocument/2006/relationships/slideLayout" Target="/ppt/slideLayouts/slideLayout1.xml" Id="R4593a03b414f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3a03b414f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30ba9ee614c18" /><Relationship Type="http://schemas.openxmlformats.org/officeDocument/2006/relationships/image" Target="/ppt/media/image.jpeg" Id="R55271c24c0d04962" /><Relationship Type="http://schemas.openxmlformats.org/officeDocument/2006/relationships/notesSlide" Target="/ppt/notesSlides/notesSlide1.xml" Id="Re2fa9a03b5a4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6db567a4d457d" /><Relationship Type="http://schemas.openxmlformats.org/officeDocument/2006/relationships/notesSlide" Target="/ppt/notesSlides/notesSlide2.xml" Id="R8aad0233a3e84f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94e8893e34cc4" /><Relationship Type="http://schemas.openxmlformats.org/officeDocument/2006/relationships/notesSlide" Target="/ppt/notesSlides/notesSlide3.xml" Id="Rfb57336e6ec9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ccd7f56e942f8" /><Relationship Type="http://schemas.openxmlformats.org/officeDocument/2006/relationships/notesSlide" Target="/ppt/notesSlides/notesSlide4.xml" Id="Rccb7d4c7cc6e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e6c80eb944095" /><Relationship Type="http://schemas.openxmlformats.org/officeDocument/2006/relationships/notesSlide" Target="/ppt/notesSlides/notesSlide5.xml" Id="R3724cb13ca7b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3ff1fd8549ee" /><Relationship Type="http://schemas.openxmlformats.org/officeDocument/2006/relationships/notesSlide" Target="/ppt/notesSlides/notesSlide6.xml" Id="R0eb667f7698347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33d5486c649f9" /><Relationship Type="http://schemas.openxmlformats.org/officeDocument/2006/relationships/notesSlide" Target="/ppt/notesSlides/notesSlide7.xml" Id="R2e3abad20880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2cb674a18448d" /><Relationship Type="http://schemas.openxmlformats.org/officeDocument/2006/relationships/notesSlide" Target="/ppt/notesSlides/notesSlide8.xml" Id="Rcb9a3f49e3074e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5f5ca0944471" /><Relationship Type="http://schemas.openxmlformats.org/officeDocument/2006/relationships/image" Target="/ppt/media/image2.jpeg" Id="R1ad4670b267a4eab" /><Relationship Type="http://schemas.openxmlformats.org/officeDocument/2006/relationships/image" Target="/ppt/media/image3.jpeg" Id="R48eb6023646f4c61" /><Relationship Type="http://schemas.openxmlformats.org/officeDocument/2006/relationships/notesSlide" Target="/ppt/notesSlides/notesSlide9.xml" Id="R5f56501ea053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1ca6dcb24ab2" /><Relationship Type="http://schemas.openxmlformats.org/officeDocument/2006/relationships/image" Target="/ppt/media/image4.jpeg" Id="R28fd92c2caa2453a" /><Relationship Type="http://schemas.openxmlformats.org/officeDocument/2006/relationships/notesSlide" Target="/ppt/notesSlides/notesSlide10.xml" Id="Raecf85df25b14c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19969b5e0460e" /><Relationship Type="http://schemas.openxmlformats.org/officeDocument/2006/relationships/image" Target="/ppt/media/image5.jpeg" Id="Rbf5b71188af8437c" /><Relationship Type="http://schemas.openxmlformats.org/officeDocument/2006/relationships/notesSlide" Target="/ppt/notesSlides/notesSlide11.xml" Id="Rfaafff12eda84c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2753a62404d6d" /><Relationship Type="http://schemas.openxmlformats.org/officeDocument/2006/relationships/image" Target="/ppt/media/image6.jpeg" Id="R9d3c8cfc23a14827" /><Relationship Type="http://schemas.openxmlformats.org/officeDocument/2006/relationships/image" Target="/ppt/media/image7.jpeg" Id="R98a2483642ea45df" /><Relationship Type="http://schemas.openxmlformats.org/officeDocument/2006/relationships/image" Target="/ppt/media/image8.jpeg" Id="Rb2b716f206b84659" /><Relationship Type="http://schemas.openxmlformats.org/officeDocument/2006/relationships/notesSlide" Target="/ppt/notesSlides/notesSlide12.xml" Id="Re37e7d370a7c47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2981777624df6" /><Relationship Type="http://schemas.openxmlformats.org/officeDocument/2006/relationships/image" Target="/ppt/media/image9.jpeg" Id="Ra57e706fba114c0e" /><Relationship Type="http://schemas.openxmlformats.org/officeDocument/2006/relationships/image" Target="/ppt/media/image10.jpeg" Id="R6146f58043c041df" /><Relationship Type="http://schemas.openxmlformats.org/officeDocument/2006/relationships/notesSlide" Target="/ppt/notesSlides/notesSlide13.xml" Id="Rf79f0fe53daa4f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b1efc60994064" /><Relationship Type="http://schemas.openxmlformats.org/officeDocument/2006/relationships/notesSlide" Target="/ppt/notesSlides/notesSlide14.xml" Id="R0d0dcf8e49fb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683A7-297A-4085-8F1E-EAD7EC1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E16A3-48E8-403D-B86F-AEE425AD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FC5F7"/>
                </a:solidFill>
              </a:defRPr>
            </a:pPr>
            <a:r>
              <a:rPr sz="1500" b="1">
                <a:solidFill>
                  <a:srgbClr val="AFC5F7"/>
                </a:solidFill>
              </a:rPr>
              <a:t>LinguaRoute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393D3-5FAE-4910-9BD9-CE4FE1B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기업 외국어교육의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성장 경로를 잇다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81AC-DC1E-4EA3-BAAB-6E7959B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6FA"/>
                </a:solidFill>
              </a:defRPr>
            </a:pPr>
            <a:r>
              <a:rPr sz="1800" b="0">
                <a:solidFill>
                  <a:srgbClr val="DCE6FA"/>
                </a:solidFill>
              </a:rPr>
              <a:t>구독부터 학습 성과까지, 한곳에서 관리하세요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48F96-2AAE-4FD4-8BB3-28DFB0FA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EA385-CC30-4367-8860-AA567EF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광주 3반 · 6조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C5FDB-75C0-45F9-B97C-C5A9326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42950"/>
            <a:ext cx="4629150" cy="52959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1c24c0d049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371699"/>
            <a:ext cx="4476750" cy="4038402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D99AB-3FAF-47FA-A0C4-4B0D91C4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FC5F7"/>
                </a:solidFill>
              </a:defRPr>
            </a:pPr>
            <a:r>
              <a:rPr sz="1200" b="1">
                <a:solidFill>
                  <a:srgbClr val="AFC5F7"/>
                </a:solidFill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948699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7F51E-6506-43AA-8192-6CAF3B7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01 · PAIN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09127-0114-4FF8-BF18-B5EDA74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71878-EE14-49E0-8F7A-69588CA8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세 이해관계자는 서로 다른 지점에서 같은 흐름이 끊깁니다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7CC58-FE7E-48E6-B7D1-5411904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9F494-A026-491A-B653-4BA660F2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3F74-9B7E-43C4-9EB5-B4113B1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기업 관리자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BBAF8-B419-44C7-9D2D-3D236F4C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구독·결제·좌석·초대·진도가 흩어져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교육 운영 상태를 한눈에 보기 어렵습니다.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10D3C-C2A0-4AD9-BA15-E4F995F4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FC1C0-7E1B-4CDD-A75C-6E4C08A7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563E9"/>
                </a:solidFill>
              </a:defRPr>
            </a:pPr>
            <a:r>
              <a:rPr sz="2250" b="1">
                <a:solidFill>
                  <a:srgbClr val="3563E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C5C86-2266-42CF-9CBF-3767D2A6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직원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B7083-8F73-4D0B-AA1F-480FE340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많은 강의 중 지금 필요한 과정을 찾고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학습 상태를 이어가기 어렵습니다.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5C3DC-F186-434F-8EFF-7AEC66E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1D1F6-5BE4-4689-95F4-9F0210B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563E9"/>
                </a:solidFill>
              </a:defRPr>
            </a:pPr>
            <a:r>
              <a:rPr sz="2250" b="1">
                <a:solidFill>
                  <a:srgbClr val="3563E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E274E-1C93-4B68-9C3D-85EA38D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플랫폼 관리자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A31B5-409B-4317-AFC8-B2EA39E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기업·사용자·강의·거래 상태가 나뉘어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운영 위험을 빠르게 파악하기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533095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2EFFF-69EC-403C-9083-25E1A91C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FC5F7"/>
                </a:solidFill>
              </a:defRPr>
            </a:pPr>
            <a:r>
              <a:rPr sz="1050" b="1">
                <a:solidFill>
                  <a:srgbClr val="AFC5F7"/>
                </a:solidFill>
              </a:rPr>
              <a:t>01 · VALUE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B9EE0-9F50-4759-8C4A-314C8F9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AFC5F7"/>
                </a:solidFill>
              </a:defRPr>
            </a:pPr>
            <a:r>
              <a:rPr sz="1050" b="1">
                <a:solidFill>
                  <a:srgbClr val="AFC5F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D9114-E6BC-475B-B855-95A0F52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구독부터 운영까지, 한 경로로 이어져야 가치가 생깁니다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23DD-D981-42E8-AEE0-693B423E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8ED71-E1EF-4211-AC23-DC9F064F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1866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2C4D2-B802-4D77-9930-064D849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A7639-A2F5-4C2B-9B48-FD6FB64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기업 구독·결제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C04E4-58F2-4984-9E99-DC40F55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68C8E-130F-4BF7-9D02-8CDD103A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1866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F5542-6740-42D5-AAC9-E9C3B0E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5F7"/>
                </a:solidFill>
              </a:defRPr>
            </a:pPr>
            <a:r>
              <a:rPr sz="1125" b="1">
                <a:solidFill>
                  <a:srgbClr val="AFC5F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398CA-2281-4E7F-B03A-88A9F108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좌석·직원 초대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2E6A4-7DC8-4758-91EB-11A7397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0DE65-CB01-4E5F-94CF-8EF3A12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24125"/>
            <a:ext cx="1866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0E478-40B8-47D7-A9C0-5F47A47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5F7"/>
                </a:solidFill>
              </a:defRPr>
            </a:pPr>
            <a:r>
              <a:rPr sz="1125" b="1">
                <a:solidFill>
                  <a:srgbClr val="AFC5F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35438-BD77-4071-B3DC-50A801E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강의 수강·학습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C0C74-D098-46B5-993E-264E2B7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B5096-9817-4FA2-A7AF-ABC59D2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24125"/>
            <a:ext cx="1866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CFE8E-5D99-40C6-85BB-21508FE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5F7"/>
                </a:solidFill>
              </a:defRPr>
            </a:pPr>
            <a:r>
              <a:rPr sz="1125" b="1">
                <a:solidFill>
                  <a:srgbClr val="AFC5F7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284A1-1ABF-47EF-9651-E97C2DCE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진도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82281-AF87-4C90-9947-33E728F3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57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4EBE3-1BB2-46A8-916E-C7D1511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24125"/>
            <a:ext cx="1866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059B9-D37D-4F70-926B-9E3C55FE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5F7"/>
                </a:solidFill>
              </a:defRPr>
            </a:pPr>
            <a:r>
              <a:rPr sz="1125" b="1">
                <a:solidFill>
                  <a:srgbClr val="AFC5F7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17E29-3D95-4521-8A8D-4DA2DDE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플랫폼 운영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A2A17-206C-44F7-81DB-F5A7865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DCE6FA"/>
                </a:solidFill>
              </a:defRPr>
            </a:pPr>
            <a:r>
              <a:rPr sz="1875" b="0">
                <a:solidFill>
                  <a:srgbClr val="DCE6FA"/>
                </a:solidFill>
              </a:rPr>
              <a:t>결제 결과가 좌석이 되고, 직원 학습 결과가 기업과 플랫폼의 운영 판단으로 돌아옵니다.</a:t>
            </a:r>
          </a:p>
        </p:txBody>
      </p:sp>
    </p:spTree>
    <p:extLst>
      <p:ext uri="{BB962C8B-B14F-4D97-AF65-F5344CB8AC3E}">
        <p14:creationId xmlns:p14="http://schemas.microsoft.com/office/powerpoint/2010/main" val="26869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C43EC-1EEC-4C42-8E96-894B74C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02 · IMPLEMENTED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47937-D2AB-41EC-9826-C272731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9653-F1E4-4642-8A78-BA0B574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구독 권한과 강의 상태를 서버가 직접 검증합니다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D81BE-C12F-4587-87C4-7B26553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E7A8E-88C2-44D3-865C-8DB686B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23B"/>
                </a:solidFill>
              </a:defRPr>
            </a:pPr>
            <a:r>
              <a:rPr sz="1800" b="1">
                <a:solidFill>
                  <a:srgbClr val="17223B"/>
                </a:solidFill>
              </a:rPr>
              <a:t>직원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F9AF4-BA81-4C6D-B587-1D9FF0A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36C9A-D827-4A6D-9DE9-C31832D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63E9"/>
                </a:solidFill>
              </a:defRPr>
            </a:pPr>
            <a:r>
              <a:rPr sz="1125" b="1">
                <a:solidFill>
                  <a:srgbClr val="3563E9"/>
                </a:solidFill>
              </a:rPr>
              <a:t>강의명·언어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4482B-46EE-4929-B7D2-C7FDEC24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F9C27-4D2C-47E7-A010-63FB9C05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63E9"/>
                </a:solidFill>
              </a:defRPr>
            </a:pPr>
            <a:r>
              <a:rPr sz="1125" b="1">
                <a:solidFill>
                  <a:srgbClr val="3563E9"/>
                </a:solidFill>
              </a:rPr>
              <a:t>상황·난이도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94571-80E6-461B-9DCD-1305FF0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B6A84-7E62-4BEB-B63B-6388A67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63E9"/>
                </a:solidFill>
              </a:defRPr>
            </a:pPr>
            <a:r>
              <a:rPr sz="1125" b="1">
                <a:solidFill>
                  <a:srgbClr val="3563E9"/>
                </a:solidFill>
              </a:rPr>
              <a:t>수강신청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E4DC5-4BE1-4DC7-9B15-41299503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8A3D"/>
                </a:solidFill>
              </a:defRPr>
            </a:pPr>
            <a:r>
              <a:rPr sz="25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68B6F-05A7-4FDF-B3BE-972D0EBA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85950"/>
            <a:ext cx="3333750" cy="260985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FE1B9-ED72-417E-94A4-87C4A66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90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F62C5-288F-49BC-9832-16EE037B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81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7BDC7-331D-42D4-BEA7-2620F706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409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Bearer Token과 요청 조건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29AE6-0E24-4A8C-A74F-8D0C090F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48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12D44-46DB-4846-A0BF-BB497FD4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409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서비스별 /api 경로 라우팅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58B32-170A-475C-8773-9EF8B936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8A3D"/>
                </a:solidFill>
              </a:defRPr>
            </a:pPr>
            <a:r>
              <a:rPr sz="255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3A488-4622-4971-AD03-C5D4B3E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333750" cy="260985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FD2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F1F9E-BD36-4D5C-A442-92A3747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223B"/>
                </a:solidFill>
              </a:defRPr>
            </a:pPr>
            <a:r>
              <a:rPr sz="2250" b="1">
                <a:solidFill>
                  <a:srgbClr val="17223B"/>
                </a:solidFill>
              </a:rPr>
              <a:t>도메인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B31A2-BE04-4377-ADF6-08931253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81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15302-EAE8-4068-A5F6-A37B564C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23B"/>
                </a:solidFill>
              </a:defRPr>
            </a:pPr>
            <a:r>
              <a:rPr sz="1425" b="0">
                <a:solidFill>
                  <a:srgbClr val="17223B"/>
                </a:solidFill>
              </a:rPr>
              <a:t>ACTIVE 강의만 반환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3BFC3-968B-4B3C-AE14-12BD691D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48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66232-04C4-4DDC-9EB3-B93EAFC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23B"/>
                </a:solidFill>
              </a:defRPr>
            </a:pPr>
            <a:r>
              <a:rPr sz="1425" b="0">
                <a:solidFill>
                  <a:srgbClr val="17223B"/>
                </a:solidFill>
              </a:rPr>
              <a:t>구독 권한·중복 신청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68578-D5AC-42F2-8174-449F5BCF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394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4414C-0263-4F9F-ABD6-0580782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42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94343"/>
                </a:solidFill>
              </a:defRPr>
            </a:pPr>
            <a:r>
              <a:rPr sz="1575" b="1">
                <a:solidFill>
                  <a:srgbClr val="C94343"/>
                </a:solidFill>
              </a:rPr>
              <a:t>강의 검색·필터·수강신청은 실제 Gateway API와 연결되어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96172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D6855-1ECD-4275-8EE9-6380CFDC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03 ·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75F89-B920-408E-AF9B-FF5189D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BF124-B439-4779-8F95-5BADE54C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Sprint 1의 핵심 흐름을 Sprint 2에서 결제·이벤트까지 확장했습니다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AB025-5AAA-421A-AA8A-BB20CB2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DBCFA-298E-4F47-8696-E2358F8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334000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23B6-C765-4639-900F-43426C6C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B7414-6308-4D9F-A092-78F8E7F7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SPRINT 1 · 핵심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9C201-10D1-44BC-8630-0DABAE5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로그인부터 수강신청까지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61D2A-39C6-4157-A1D0-869AA97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39830-378F-4009-903B-C8215FC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강의 검색·필터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F02EE-C084-43EC-AD55-62BAF2E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CF171-21D8-4626-B0C5-0B6B50D8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강의 상세 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C3C5D-8C3B-46DE-8C1B-30F0F472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754C-FCE2-4FD9-9F15-993D66E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수강신청·중복 방지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9CD2D-28EE-4D81-A917-C0B302C7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62586-3A4C-43BB-A6C4-84BD199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직원 내 수강 목록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828A-C4A1-49EE-9B28-6629521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238750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27905-E8CF-404F-8B3A-5895093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2A1BA-1A98-4F0B-8DDD-C2319AEB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SPRINT 2 · 서비스 확장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AF2B7-CDF0-44A1-A534-CF3AE207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23B"/>
                </a:solidFill>
              </a:defRPr>
            </a:pPr>
            <a:r>
              <a:rPr sz="2250" b="1">
                <a:solidFill>
                  <a:srgbClr val="17223B"/>
                </a:solidFill>
              </a:rPr>
              <a:t>결제·이벤트·운영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CDF52-4D89-4B8E-ADE7-3D1A375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19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DD4F6-ED3F-42EA-B124-5F2A3C1F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23B"/>
                </a:solidFill>
              </a:defRPr>
            </a:pPr>
            <a:r>
              <a:rPr sz="1500" b="0">
                <a:solidFill>
                  <a:srgbClr val="17223B"/>
                </a:solidFill>
              </a:rPr>
              <a:t>구독 결제·멱등 처리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36A87-321C-4B4D-9A2C-0775534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10DBC-CC3C-4D24-8DF8-2BB9DC1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23B"/>
                </a:solidFill>
              </a:defRPr>
            </a:pPr>
            <a:r>
              <a:rPr sz="1500" b="0">
                <a:solidFill>
                  <a:srgbClr val="17223B"/>
                </a:solidFill>
              </a:rPr>
              <a:t>Kafka 구독 이벤트 5종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03A5C-F599-4F19-A304-1D46AFF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F67C0-B8DD-41D1-8F73-DFEAF08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23B"/>
                </a:solidFill>
              </a:defRPr>
            </a:pPr>
            <a:r>
              <a:rPr sz="1500" b="0">
                <a:solidFill>
                  <a:srgbClr val="17223B"/>
                </a:solidFill>
              </a:rPr>
              <a:t>좌석 권한 자동 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71E83-EC07-44A0-AFD3-A43C695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62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3979F-B549-4750-9C5B-ECA91600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23B"/>
                </a:solidFill>
              </a:defRPr>
            </a:pPr>
            <a:r>
              <a:rPr sz="1500" b="0">
                <a:solidFill>
                  <a:srgbClr val="17223B"/>
                </a:solidFill>
              </a:rPr>
              <a:t>기업·플랫폼 운영 화면</a:t>
            </a:r>
          </a:p>
        </p:txBody>
      </p:sp>
    </p:spTree>
    <p:extLst>
      <p:ext uri="{BB962C8B-B14F-4D97-AF65-F5344CB8AC3E}">
        <p14:creationId xmlns:p14="http://schemas.microsoft.com/office/powerpoint/2010/main" val="826137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4D5D4-6689-43F8-8035-B5BFAF7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04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7DA55-DF82-4C04-B4E6-7E1B96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D8CFD-ACC2-4F3E-9A28-707B289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각 서비스는 독립되고, Gateway·Eureka·Kafka가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6AD16-3256-404C-B967-A0561AD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5B569-0FD2-458C-B899-B017255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05150"/>
            <a:ext cx="6400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9525">
            <a:solidFill>
              <a:srgbClr val="2F6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A7F1C-129C-4376-8025-2B9615CC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00300"/>
            <a:ext cx="381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9525">
            <a:solidFill>
              <a:srgbClr val="2F6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ECF72-3FFF-42D0-A043-A5E988F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305300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34D49-313A-4297-9E56-31FE2FB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58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01BCC-514C-4CCC-B30D-A06828E0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1723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0594E-271C-49C0-B484-BB26F66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66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Vue 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사용자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46E1E-0D24-4AF8-B5BD-CBB86B3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9525">
            <a:solidFill>
              <a:srgbClr val="2F63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BA24A-CE6E-4AB0-9D30-62AC7A5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85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02FAC-DE62-458A-A0B3-E50565E0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4FC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1877F-B14E-4B02-BD9D-76F53F7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Auth Server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OAuth2 · JWT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0F4E7-CD6D-4EE5-9B25-E611661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76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A2426-18FD-43B0-B724-E4A86E4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76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524D0-8A26-4A65-AE21-8139D88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EDFF3-A5F7-411D-A8BE-01916553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6670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4FC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8AAC1-27E5-4D83-A653-BA54365A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47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Eureka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서비스 등록 · 탐색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F0996-304A-4F6B-8CC5-B405298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08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4708A"/>
                </a:solidFill>
                <a:latin typeface="Calibri"/>
                <a:ea typeface="Calibri"/>
                <a:cs typeface="Calibri"/>
              </a:rPr>
              <a:t>↔ Gateway·각 서비스의 주소 등록·조회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00C60-2493-424D-A6AB-04E13B39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828800" cy="7810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2DC03-6AB2-41D8-975F-17CC3B90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user-service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기업 · 사용자 · 권한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C40A6-ED3F-4BD6-AF13-D348CC9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828800" cy="7810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ED671-0F47-40D0-ACF7-0B5E2821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480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course-service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강의 · 차시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0FABF-7BAC-45AB-ACA3-E0064E0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1828800" cy="7810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0676C-DE06-440E-99CF-FFED3615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enrollment-service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수강 · 진도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4B960-1245-47B7-B4EE-BBD878E8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1828800" cy="7810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F0CC1-A741-49FF-B538-6E558B9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payment-service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구독 · 결제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A28FA-5679-40C4-95D1-398230CE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DC488-FEEE-4CD2-BFF3-53CB917D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7A324-DE64-48AC-AF83-D30F390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244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9551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95516"/>
                </a:solidFill>
                <a:latin typeface="Calibri"/>
                <a:ea typeface="Calibri"/>
                <a:cs typeface="Calibri"/>
              </a:rPr>
              <a:t>KAFKA EVENT BUS   payment-service 발행  →  user-service 소비  →  구독 권한 갱신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A86CDB-7436-4D8B-B098-B918BED4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336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HTTP/REST · 인증된 요청을 서비스별로 라우팅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482FE-DD3F-4AE0-8764-FA30A55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52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803FFC-D017-4ACE-8224-CB798B58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52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6EA75-C54C-486D-9FB2-CDF3FA8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52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A4D9DC-6CF3-4D04-B622-3485BAA9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2ABE84-2BF3-43E0-B3AA-9FC7E003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3F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F63F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0625-D760-479B-884C-FA509105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150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470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4708A"/>
                </a:solidFill>
                <a:latin typeface="Calibri"/>
                <a:ea typeface="Calibri"/>
                <a:cs typeface="Calibri"/>
              </a:rPr>
              <a:t>MariaDB lecture_db · 하나의 DB 안에서 서비스별 소유 테이블을 분리</a:t>
            </a:r>
          </a:p>
        </p:txBody>
      </p:sp>
    </p:spTree>
    <p:extLst>
      <p:ext uri="{BB962C8B-B14F-4D97-AF65-F5344CB8AC3E}">
        <p14:creationId xmlns:p14="http://schemas.microsoft.com/office/powerpoint/2010/main" val="1193951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866DD4-6E2D-49E4-A204-0115982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05 · API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B4F49-735B-49C0-BA27-0A56EE9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172FD-288C-4C3E-B6FB-899F643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프론트 화면마다 호출하는 Gateway API가 명확합니다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06132-03E2-4316-B80D-B3C2FED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6D833-B47A-4535-BA7F-F99114DD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B59EC-DC7F-406A-AF0D-76D09C46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264F2-ABAB-4EBA-87FF-1A758F27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GATEWAY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58C8C-8307-4EF8-8A95-7AFE999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D0DE2-39EE-4587-A79B-8E1636A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651A8-D4B0-454B-8330-D262706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기업 진도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6B31C-FE94-4716-8AEA-B1F1486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907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B5A5C-4CC9-4775-9CA2-A696EB3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38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DA63D-40A2-4C17-9616-3C0A045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/api/companies/me/enrollments/progress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13FB9-780C-45FD-A92A-28F8E2E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기업 관리자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811D8-026A-46FE-87AF-C4D8FD73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DDADF-FA1B-4CF3-AF6E-272D29A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구독·결제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7D4D2-C41C-4464-A07B-490BCB2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28925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D5074-B51D-4C05-A594-09246D61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76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24482-D234-4AFD-A81A-9ED95DE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/api/subscriptions/me · /api/payments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7454D-3989-4494-BE68-BEF44F9E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기업 관리자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8B967-7D8F-440A-8033-A99F8FB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9C831-C357-4170-A2B3-B6D5E932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강의 찾기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B2530-B6C7-4B40-9944-709FB1C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6710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FC80B-5612-4F90-A3A0-7E06C6F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147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85939-30AB-41A5-89E8-3F7B6C2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/api/courses?language=JAPANESE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E7E6A-C553-470E-B60F-FACC5AE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147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직원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C8D3B-1D48-44E6-B1E6-3043F36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8776D-0298-4F6A-8529-8A3D622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내 학습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5013B-20A7-4D55-8755-842EE96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05275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59204-B24D-4368-A430-974B140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52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E02D9-C95B-4A08-9FE2-D2FC8F4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5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/api/enrollments/me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A5CBD-3C78-46D0-8962-A876BA3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직원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7FC952-7379-4CEE-86BD-FC1B76E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7CA6B3-A818-41CC-AB55-2F55D9B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운영 집계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3DA65-EAFE-4E7B-ACDD-6DBB73C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434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5D445-A504-47BB-9D9E-2623574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91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6C0A5-FA87-4161-A0E2-365A800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91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/api/admin/companies · users · payments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03039-C5D4-45E8-83A0-64B6CA9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플랫폼 관리자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B85EEB-C9BB-4528-947D-F6AECCAE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89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DD92D-8030-441C-ACF3-4EC6E72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강의 운영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E412F6-475B-4E87-BB43-9976A23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381625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5C0214-168E-45BD-9394-2E98EB9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429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0AD3E2-8468-43E8-87AF-2DB4EB87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23B"/>
                </a:solidFill>
              </a:defRPr>
            </a:pPr>
            <a:r>
              <a:rPr sz="1200" b="0">
                <a:solidFill>
                  <a:srgbClr val="17223B"/>
                </a:solidFill>
              </a:rPr>
              <a:t>/api/admin/courses?status=INACTIVE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B4B471-92F5-43D6-8A9A-C0DF192D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2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플랫폼 관리자</a:t>
            </a:r>
          </a:p>
        </p:txBody>
      </p:sp>
    </p:spTree>
    <p:extLst>
      <p:ext uri="{BB962C8B-B14F-4D97-AF65-F5344CB8AC3E}">
        <p14:creationId xmlns:p14="http://schemas.microsoft.com/office/powerpoint/2010/main" val="928521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9718E-E997-4E04-B6B7-C7AD128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05 · REQUEST /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9FC1B-6452-40E4-8F02-02ABE01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BB908-4226-4375-A609-A25748A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요청 조건이 바뀌면 화면 결과도 즉시 바뀝니다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079E0-C34F-4A69-975E-5CD520D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7C951-CA65-494F-98C8-BB7204E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95875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A7506-494C-4DAE-9EB0-6F8F276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FC5F7"/>
                </a:solidFill>
              </a:defRPr>
            </a:pPr>
            <a:r>
              <a:rPr sz="1200" b="1">
                <a:solidFill>
                  <a:srgbClr val="AFC5F7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00C33-AAAB-47C0-AF52-2B17D85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GET /api/courses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  ?language=JAPANESE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CC912-296D-4276-B31E-854178B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6FA"/>
                </a:solidFill>
              </a:defRPr>
            </a:pPr>
            <a:r>
              <a:rPr sz="1275" b="0">
                <a:solidFill>
                  <a:srgbClr val="DCE6FA"/>
                </a:solidFill>
              </a:rPr>
              <a:t>Authorization: Bearer {accessToken}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DE26B-A0F2-46A4-AA04-38AE53EE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F8A3D"/>
                </a:solidFill>
              </a:defRPr>
            </a:pPr>
            <a:r>
              <a:rPr sz="2700" b="1">
                <a:solidFill>
                  <a:srgbClr val="FF8A3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A224B-4CBB-45DC-BAA2-29F6371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482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6C6F2-51A3-4452-B835-3EBFEEA8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63E9"/>
                </a:solidFill>
              </a:defRPr>
            </a:pPr>
            <a:r>
              <a:rPr sz="1200" b="1">
                <a:solidFill>
                  <a:srgbClr val="3563E9"/>
                </a:solidFill>
              </a:rPr>
              <a:t>RESPONSE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E6FC9-CDFD-482B-B31B-B5A9CA90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4286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23B"/>
                </a:solidFill>
              </a:defRPr>
            </a:pPr>
            <a:r>
              <a:rPr sz="1725" b="0">
                <a:solidFill>
                  <a:srgbClr val="17223B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23B"/>
                </a:solidFill>
              </a:defRPr>
            </a:pPr>
            <a:r>
              <a:rPr sz="1725" b="0">
                <a:solidFill>
                  <a:srgbClr val="17223B"/>
                </a:solidFill>
              </a:rPr>
              <a:t>  "id": 9103,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23B"/>
                </a:solidFill>
              </a:defRPr>
            </a:pPr>
            <a:r>
              <a:rPr sz="1725" b="0">
                <a:solidFill>
                  <a:srgbClr val="17223B"/>
                </a:solidFill>
              </a:rPr>
              <a:t>  "title": "일본 출장 회화",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23B"/>
                </a:solidFill>
              </a:defRPr>
            </a:pPr>
            <a:r>
              <a:rPr sz="1725" b="0">
                <a:solidFill>
                  <a:srgbClr val="17223B"/>
                </a:solidFill>
              </a:rPr>
              <a:t>  "status": "ACTIVE"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23B"/>
                </a:solidFill>
              </a:defRPr>
            </a:pPr>
            <a:r>
              <a:rPr sz="1725" b="0">
                <a:solidFill>
                  <a:srgbClr val="17223B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4F4C3-C888-4B81-8649-3D7F65F3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394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30E7-365B-42AC-9352-7E8B167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94343"/>
                </a:solidFill>
              </a:defRPr>
            </a:pPr>
            <a:r>
              <a:rPr sz="1500" b="1">
                <a:solidFill>
                  <a:srgbClr val="C94343"/>
                </a:solidFill>
              </a:rPr>
              <a:t>프론트가 임의로 상태를 만들지 않고, 서버 응답을 화면에 그대로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577316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74F4C-CBA9-4774-BFF2-BABCDC09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06 · IMPLEMENTED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CCCC7-4FF1-43F3-B022-102720DC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CC379-9E9B-4F9A-92B3-7CCD887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현재 구현한 기능은 기업 운영부터 직원 학습까지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EE1CB-10D5-4998-AC9E-CD0A3F2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6E6C4-EDAD-4986-BDE4-43BDABE2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48275" cy="3810000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0F4FC"/>
          </a:solidFill>
          <a:ln xmlns:a="http://schemas.openxmlformats.org/drawingml/2006/main" w="9525">
            <a:solidFill>
              <a:srgbClr val="B8C4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구독·결제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좌석·직원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직원별 진도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54294-9615-4AB7-A1CB-2112003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4670b267a4eab"/>
          <a:stretch xmlns:a="http://schemas.openxmlformats.org/drawingml/2006/main"/>
        </p:blipFill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3935B-442E-4500-A3EB-6C327A0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248275" cy="3810000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B8D6C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강의 검색·필터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수강신청·학습 진도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7233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33F"/>
                </a:solidFill>
                <a:latin typeface="Calibri"/>
                <a:ea typeface="Calibri"/>
                <a:cs typeface="Calibri"/>
              </a:rPr>
              <a:t>기업·사용자·강의 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4B160-A463-4DAD-8A27-2497CB1F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0" y="-571500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b6023646f4c61"/>
          <a:stretch xmlns:a="http://schemas.openxmlformats.org/drawingml/2006/main"/>
        </p:blipFill>
        <p:spPr>
          <a:xfrm xmlns:a="http://schemas.openxmlformats.org/drawingml/2006/main">
            <a:off x="-5715000" y="-5715000"/>
            <a:ext cx="9525" cy="952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92E40-45EE-4B58-ABBB-E8517A61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BFFD8-2641-486F-A658-1FCFE8C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기업 관리자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CB200-B1E4-47E3-A713-A4D267C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52625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7DD6A-4D5A-4A98-9AAD-1C684299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000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직원·플랫폼 관리자</a:t>
            </a:r>
          </a:p>
        </p:txBody>
      </p:sp>
    </p:spTree>
    <p:extLst>
      <p:ext uri="{BB962C8B-B14F-4D97-AF65-F5344CB8AC3E}">
        <p14:creationId xmlns:p14="http://schemas.microsoft.com/office/powerpoint/2010/main" val="6268896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2DEB9-211C-4F89-AA8F-BC776BC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06 · EMPLOYEE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66E89-A045-42E1-9F10-4F27CDC8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A86E8-DD7F-4532-8A73-D9E4D41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일본어 필터 요청 후 ACTIVE 강의 1개가 노출됩니다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B4C35-3AF1-4D5B-ADB8-C0EF822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DBB51-A5F5-4994-80C5-C8D79CA9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391400" cy="4676775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d92c2caa2453a"/>
          <a:srcRect xmlns:a="http://schemas.openxmlformats.org/drawingml/2006/main" l="25000" t="13000" r="22000" b="4000"/>
          <a:stretch xmlns:a="http://schemas.openxmlformats.org/drawingml/2006/main"/>
        </p:blipFill>
        <p:spPr>
          <a:xfrm xmlns:a="http://schemas.openxmlformats.org/drawingml/2006/main">
            <a:off x="1797563" y="1657350"/>
            <a:ext cx="5015473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D870A-A9A0-435A-83D9-4BC7E4A6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BCBD6-1B95-40AB-A30A-5E935279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F784A-3AE2-449D-A1AC-26906AA6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23B"/>
                </a:solidFill>
              </a:defRPr>
            </a:pPr>
            <a:r>
              <a:rPr sz="1650" b="1">
                <a:solidFill>
                  <a:srgbClr val="17223B"/>
                </a:solidFill>
              </a:rPr>
              <a:t>/api/courses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23B"/>
                </a:solidFill>
              </a:defRPr>
            </a:pPr>
            <a:r>
              <a:rPr sz="1650" b="1">
                <a:solidFill>
                  <a:srgbClr val="17223B"/>
                </a:solidFill>
              </a:rPr>
              <a:t>?language=JAPANESE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43D9A-46CA-417D-AA5E-FC234C4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EFBE3-211E-488F-B8ED-2D6F6135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23B"/>
                </a:solidFill>
              </a:defRPr>
            </a:pPr>
            <a:r>
              <a:rPr sz="1575" b="0">
                <a:solidFill>
                  <a:srgbClr val="17223B"/>
                </a:solidFill>
              </a:rPr>
              <a:t>필터 결과: 1개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C8118-053D-4B52-B61F-D851963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0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3AEBF-93A6-4705-8743-F7802FA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23B"/>
                </a:solidFill>
              </a:defRPr>
            </a:pPr>
            <a:r>
              <a:rPr sz="1575" b="0">
                <a:solidFill>
                  <a:srgbClr val="17223B"/>
                </a:solidFill>
              </a:rPr>
              <a:t>강의: 일본 출장 회화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02C02-BDCC-4BD5-A0C0-9D86BF8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00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FF698-AA9E-474E-AD23-A13ED8A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23B"/>
                </a:solidFill>
              </a:defRPr>
            </a:pPr>
            <a:r>
              <a:rPr sz="1575" b="0">
                <a:solidFill>
                  <a:srgbClr val="17223B"/>
                </a:solidFill>
              </a:rPr>
              <a:t>상태: 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AD6E9-9182-4DDC-9B9C-2B54A53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340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CD5A3-8805-4493-8BCE-8E9FC76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149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E8B72"/>
                </a:solidFill>
              </a:defRPr>
            </a:pPr>
            <a:r>
              <a:rPr sz="1425" b="1">
                <a:solidFill>
                  <a:srgbClr val="2E8B72"/>
                </a:solidFill>
              </a:rPr>
              <a:t>요청 → 응답 → 화면</a:t>
            </a:r>
          </a:p>
        </p:txBody>
      </p:sp>
    </p:spTree>
    <p:extLst>
      <p:ext uri="{BB962C8B-B14F-4D97-AF65-F5344CB8AC3E}">
        <p14:creationId xmlns:p14="http://schemas.microsoft.com/office/powerpoint/2010/main" val="16437078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67652-91A0-4078-8515-C16A28A6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06 · EMPLOYEE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5E6A8-1393-489B-ACAD-FD009D6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26ECA-CEA0-4D4C-BD08-FE1827D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직원은 서버가 계산한 상태와 진도율로 학습을 이어갑니다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A7CB-91F3-4269-BBC7-B55E7C28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F094E-7DE5-4BC5-AA5F-F3B4DC8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391400" cy="4676775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b71188af8437c"/>
          <a:srcRect xmlns:a="http://schemas.openxmlformats.org/drawingml/2006/main" l="25000" t="12000" r="2000" b="3000"/>
          <a:stretch xmlns:a="http://schemas.openxmlformats.org/drawingml/2006/main"/>
        </p:blipFill>
        <p:spPr>
          <a:xfrm xmlns:a="http://schemas.openxmlformats.org/drawingml/2006/main">
            <a:off x="1797563" y="1657350"/>
            <a:ext cx="5015473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4B143-71B0-46D9-A8AA-BA022B5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63E9"/>
                </a:solidFill>
              </a:defRPr>
            </a:pPr>
            <a:r>
              <a:rPr sz="1500" b="1">
                <a:solidFill>
                  <a:srgbClr val="3563E9"/>
                </a:solidFill>
              </a:rPr>
              <a:t>GET /api/enrollments/me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A7E22-69F9-40FC-A2C6-A0352B60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31051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28A3E-9C0B-4170-A3E7-238A1A6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비즈니스 이메일 영어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D823B-2235-473F-826B-385C79A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2"/>
                </a:solidFill>
              </a:defRPr>
            </a:pPr>
            <a:r>
              <a:rPr sz="1500" b="1">
                <a:solidFill>
                  <a:srgbClr val="2E8B72"/>
                </a:solidFill>
              </a:rPr>
              <a:t>COMPLETED · 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890A1-9A52-4549-B4DA-2AB2A49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31051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81C3D-688B-44BE-8AF7-AF6DD885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해외 고객 미팅 영어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21DB6-A3EA-48B8-9541-68D84D5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8A3D"/>
                </a:solidFill>
              </a:defRPr>
            </a:pPr>
            <a:r>
              <a:rPr sz="1500" b="1">
                <a:solidFill>
                  <a:srgbClr val="FF8A3D"/>
                </a:solidFill>
              </a:rPr>
              <a:t>LEARNING · 33.33%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CD73A-D972-4CEF-8CEA-702B568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수강 상태와 진도율은 클라이언트가 아닌 서버 책임입니다.</a:t>
            </a:r>
          </a:p>
        </p:txBody>
      </p:sp>
    </p:spTree>
    <p:extLst>
      <p:ext uri="{BB962C8B-B14F-4D97-AF65-F5344CB8AC3E}">
        <p14:creationId xmlns:p14="http://schemas.microsoft.com/office/powerpoint/2010/main" val="1296917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831AD-319F-47A1-904C-91563A98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06 · COMPANY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BF4E7-AB04-4C09-9712-C5CF6C7A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E02A8-5C5D-4D58-8234-301BDCA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기업 관리자는 좌석·결제·직원 진도를 같은 운영 흐름에서 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CD949-0DFF-4290-8F00-F4BA4E18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7590-E77D-4773-A3A7-AB3B79D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581400" cy="443865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c8cfc23a14827"/>
          <a:stretch xmlns:a="http://schemas.openxmlformats.org/drawingml/2006/main"/>
        </p:blipFill>
        <p:spPr>
          <a:xfrm xmlns:a="http://schemas.openxmlformats.org/drawingml/2006/main">
            <a:off x="571500" y="2253853"/>
            <a:ext cx="3429000" cy="3093244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DCBB7-57DB-49CA-9636-0317EFB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81150"/>
            <a:ext cx="3581400" cy="443865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2483642ea45df"/>
          <a:stretch xmlns:a="http://schemas.openxmlformats.org/drawingml/2006/main"/>
        </p:blipFill>
        <p:spPr>
          <a:xfrm xmlns:a="http://schemas.openxmlformats.org/drawingml/2006/main">
            <a:off x="4381500" y="2253853"/>
            <a:ext cx="3429000" cy="3093244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2EF88-5779-46F3-B9DD-1C286731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3581400" cy="443865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716f206b84659"/>
          <a:stretch xmlns:a="http://schemas.openxmlformats.org/drawingml/2006/main"/>
        </p:blipFill>
        <p:spPr>
          <a:xfrm xmlns:a="http://schemas.openxmlformats.org/drawingml/2006/main">
            <a:off x="8191500" y="2253853"/>
            <a:ext cx="3429000" cy="3093244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85D38-4D1E-47A2-892B-C84CBF1F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9A6C2-522C-4262-8D1A-82B36BE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3F3A0-D9F8-4C8E-91FA-40064D9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A698C-9AF8-48E1-B8F6-3B30B3F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구독·결제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295F2-EFC1-41B6-9651-CF67DA5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BB219-B7C7-453C-B7A5-3464881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학습 현황</a:t>
            </a:r>
          </a:p>
        </p:txBody>
      </p:sp>
    </p:spTree>
    <p:extLst>
      <p:ext uri="{BB962C8B-B14F-4D97-AF65-F5344CB8AC3E}">
        <p14:creationId xmlns:p14="http://schemas.microsoft.com/office/powerpoint/2010/main" val="1920242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26746-CBCE-4449-B8A1-52EFDE5A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63E9"/>
                </a:solidFill>
              </a:defRPr>
            </a:pPr>
            <a:r>
              <a:rPr sz="1050" b="1">
                <a:solidFill>
                  <a:srgbClr val="3563E9"/>
                </a:solidFill>
              </a:rPr>
              <a:t>06 · PLATFORM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652E-427A-4A76-8E7A-913822B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4AE80-ECC3-46CD-ABDD-E3204EF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23B"/>
                </a:solidFill>
              </a:defRPr>
            </a:pPr>
            <a:r>
              <a:rPr sz="2850" b="1">
                <a:solidFill>
                  <a:srgbClr val="17223B"/>
                </a:solidFill>
              </a:rPr>
              <a:t>플랫폼 관리자는 전체 지표에서 비활성 강의까지 내려갑니다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8421D-57F7-4D45-B3F9-D3D7FBE6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E052A-3CBA-48D2-8944-4C8C9B01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48275" cy="4676775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e706fba114c0e"/>
          <a:stretch xmlns:a="http://schemas.openxmlformats.org/drawingml/2006/main"/>
        </p:blipFill>
        <p:spPr>
          <a:xfrm xmlns:a="http://schemas.openxmlformats.org/drawingml/2006/main">
            <a:off x="726001" y="1657350"/>
            <a:ext cx="5015473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9EEC2-7107-4F22-ABDD-C52836EB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48275" cy="4676775"/>
          </a:xfrm>
          <a:prstGeom xmlns:a="http://schemas.openxmlformats.org/drawingml/2006/main" prst="roundRect">
            <a:avLst>
              <a:gd name="adj" fmla="val 366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6f58043c041df"/>
          <a:stretch xmlns:a="http://schemas.openxmlformats.org/drawingml/2006/main"/>
        </p:blipFill>
        <p:spPr>
          <a:xfrm xmlns:a="http://schemas.openxmlformats.org/drawingml/2006/main">
            <a:off x="6450526" y="1657350"/>
            <a:ext cx="5015473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A378E-8822-4472-BD67-E709CD31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1CC6A-ABE5-4749-8742-8F6408D2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운영 집계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70555-9DE5-4CBB-9635-5580FD16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09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1D708-E0E3-4C3D-BF6D-D99CA14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57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INACTIVE 1개</a:t>
            </a:r>
          </a:p>
        </p:txBody>
      </p:sp>
    </p:spTree>
    <p:extLst>
      <p:ext uri="{BB962C8B-B14F-4D97-AF65-F5344CB8AC3E}">
        <p14:creationId xmlns:p14="http://schemas.microsoft.com/office/powerpoint/2010/main" val="848615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A64A2-E0F2-4B43-B0A0-033BDEF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FC5F7"/>
                </a:solidFill>
              </a:defRPr>
            </a:pPr>
            <a:r>
              <a:rPr sz="1050" b="1">
                <a:solidFill>
                  <a:srgbClr val="AFC5F7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4053-34C3-4DE3-8677-6659EF5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AFC5F7"/>
                </a:solidFill>
              </a:defRPr>
            </a:pPr>
            <a:r>
              <a:rPr sz="1050" b="1">
                <a:solidFill>
                  <a:srgbClr val="AFC5F7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EC9A-9A8E-44BF-A9CF-998C3EC4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이제 실제 시연으로 같은 흐름을 확인하겠습니다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12E12-0C38-49DF-9DAB-6EA73EF4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B0382-AC24-4AAB-8A7D-DD1F6AC6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A522-2629-49FB-BCC5-FFB63BC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1DD66-5BDE-49DB-BB1D-FCACB97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기업 관리자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1509F-E48A-4979-A108-D3BC1F22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4EBFA"/>
                </a:solidFill>
              </a:defRPr>
            </a:pPr>
            <a:r>
              <a:rPr sz="1425" b="0">
                <a:solidFill>
                  <a:srgbClr val="E4EBFA"/>
                </a:solidFill>
              </a:rPr>
              <a:t>좌석 · 구독 · 직원 진도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9CC3-8F99-4350-87E8-4AD7E623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60DC0-B482-41C0-AA03-1F2EAD1D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0544B-D0D1-421B-9018-58E79E1B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직원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2FAB5-CEF1-4EDC-AA70-10ED9124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4EBFA"/>
                </a:solidFill>
              </a:defRPr>
            </a:pPr>
            <a:r>
              <a:rPr sz="1425" b="0">
                <a:solidFill>
                  <a:srgbClr val="E4EBFA"/>
                </a:solidFill>
              </a:rPr>
              <a:t>강의 필터 · 내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6DBB5-1A4A-4E11-BF6A-E97E658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57"/>
          </a:solidFill>
          <a:ln xmlns:a="http://schemas.openxmlformats.org/drawingml/2006/main" w="9525">
            <a:solidFill>
              <a:srgbClr val="5267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F5357-0DA5-47B8-BE94-B165F5E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D5C6-3DAE-49CF-97ED-52C47C5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플랫폼 관리자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15294-17E0-40B4-A7C5-82E853C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4EBFA"/>
                </a:solidFill>
              </a:defRPr>
            </a:pPr>
            <a:r>
              <a:rPr sz="1425" b="0">
                <a:solidFill>
                  <a:srgbClr val="E4EBFA"/>
                </a:solidFill>
              </a:rPr>
              <a:t>운영 집계 · 비활성 강의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6C83E-7539-4436-ABD9-E68DD8D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결제와 좌석, 직원 학습, 기업 진도, 플랫폼 운영이 하나의 경로로 이어졌습니다.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CC1E4-E342-4C9D-BB7F-56B20837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AFC5F7"/>
                </a:solidFill>
              </a:defRPr>
            </a:pPr>
            <a:r>
              <a:rPr sz="1500" b="0">
                <a:solidFill>
                  <a:srgbClr val="AFC5F7"/>
                </a:solidFill>
              </a:rPr>
              <a:t>세 역할의 구현 화면과 실제 API 응답만 시연합니다.</a:t>
            </a:r>
          </a:p>
        </p:txBody>
      </p:sp>
    </p:spTree>
    <p:extLst>
      <p:ext uri="{BB962C8B-B14F-4D97-AF65-F5344CB8AC3E}">
        <p14:creationId xmlns:p14="http://schemas.microsoft.com/office/powerpoint/2010/main" val="736370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2026-08-11T04:07:53.8450000Z</dcterms:created>
  <dcterms:modified xsi:type="dcterms:W3CDTF">2026-08-11T04:07:53.8450000Z</dcterms:modified>
</coreProperties>
</file>